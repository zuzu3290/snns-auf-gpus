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81" r:id="rId11"/>
    <p:sldId id="273" r:id="rId12"/>
    <p:sldId id="272" r:id="rId13"/>
    <p:sldId id="268" r:id="rId14"/>
    <p:sldId id="269" r:id="rId15"/>
    <p:sldId id="282" r:id="rId16"/>
    <p:sldId id="283" r:id="rId17"/>
    <p:sldId id="277" r:id="rId18"/>
    <p:sldId id="280" r:id="rId19"/>
    <p:sldId id="270" r:id="rId20"/>
    <p:sldId id="262" r:id="rId21"/>
    <p:sldId id="263" r:id="rId22"/>
    <p:sldId id="279" r:id="rId23"/>
    <p:sldId id="275" r:id="rId2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deaa3747f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3edeaa3747f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7650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7306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pen-neuromorphic/snn-library-benchmark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hyperlink" Target="https://www.science.org/doi/10.1126/sciadv.adi1480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0"/>
            <a:ext cx="73200" cy="5143500"/>
          </a:xfrm>
          <a:prstGeom prst="rect">
            <a:avLst/>
          </a:prstGeom>
          <a:solidFill>
            <a:srgbClr val="00A896"/>
          </a:solidFill>
          <a:ln w="12700" cap="flat" cmpd="sng">
            <a:solidFill>
              <a:srgbClr val="00A8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36499" y="47795"/>
            <a:ext cx="2376727" cy="2420257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193522" y="1059805"/>
            <a:ext cx="8229600" cy="21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1D6FA9"/>
                </a:solidFill>
                <a:latin typeface="Verdana"/>
                <a:ea typeface="Verdana"/>
                <a:cs typeface="Verdana"/>
                <a:sym typeface="Verdana"/>
              </a:rPr>
              <a:t>Energy Consumption and Efficiency of Biologically Inspired Neural Networks Simulated on GPUs</a:t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5906673" y="4200085"/>
            <a:ext cx="3017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6FA9"/>
              </a:buClr>
              <a:buSzPts val="1100"/>
              <a:buFont typeface="Times New Roman"/>
              <a:buNone/>
            </a:pPr>
            <a:r>
              <a:rPr lang="en" sz="1100" b="0" i="0" u="none" strike="noStrike" cap="none">
                <a:solidFill>
                  <a:srgbClr val="1D6FA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Muhammad Zuhair and Haseeb Ahmed</a:t>
            </a:r>
            <a:endParaRPr sz="1100" b="0" i="0" u="none" strike="noStrike" cap="none">
              <a:solidFill>
                <a:srgbClr val="1D6FA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5224389" y="4439412"/>
            <a:ext cx="3736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6FA9"/>
              </a:buClr>
              <a:buSzPts val="1100"/>
              <a:buFont typeface="Times New Roman"/>
              <a:buNone/>
            </a:pPr>
            <a:r>
              <a:rPr lang="en" sz="1100" b="0" i="0" u="none" strike="noStrike" cap="none">
                <a:solidFill>
                  <a:srgbClr val="1D6FA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Students of the electrical engineering department (EEIB) </a:t>
            </a:r>
            <a:endParaRPr sz="1100" b="0" i="0" u="none" strike="noStrike" cap="none">
              <a:solidFill>
                <a:srgbClr val="1D6FA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1D6FA9"/>
                </a:solidFill>
                <a:latin typeface="Verdana"/>
                <a:ea typeface="Verdana"/>
                <a:cs typeface="Verdana"/>
                <a:sym typeface="Verdana"/>
              </a:rPr>
              <a:t>Agenda</a:t>
            </a:r>
            <a:endParaRPr>
              <a:solidFill>
                <a:srgbClr val="1D6FA9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26895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Char char="●"/>
            </a:pPr>
            <a:r>
              <a:rPr lang="en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Introduction &amp; Problem Statement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Char char="●"/>
            </a:pPr>
            <a:r>
              <a:rPr lang="en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Some Facts about the Problem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Char char="●"/>
            </a:pPr>
            <a:r>
              <a:rPr lang="en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Existing Work on this topic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Char char="●"/>
            </a:pPr>
            <a:r>
              <a:rPr lang="en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Our Approach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Char char="●"/>
            </a:pPr>
            <a:r>
              <a:rPr lang="en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Project Goals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Char char="●"/>
            </a:pPr>
            <a:r>
              <a:rPr lang="en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Project Evaluation Criteria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11276" y="124175"/>
            <a:ext cx="932726" cy="52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1D6FA9"/>
                </a:solidFill>
                <a:latin typeface="Verdana"/>
                <a:ea typeface="Verdana"/>
                <a:cs typeface="Verdana"/>
                <a:sym typeface="Verdana"/>
              </a:rPr>
              <a:t>The Problem Statement</a:t>
            </a:r>
            <a:endParaRPr>
              <a:solidFill>
                <a:srgbClr val="1D6FA9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26895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Artificial Intelligence relies on heavy computing hardware </a:t>
            </a: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Works brilliantly, but uses enormous energy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Biologically-inspired networks: similar results, far less energy</a:t>
            </a: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Our approach: simulate it on widely accessible hardware;GPUs .</a:t>
            </a: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14438" y="3054382"/>
            <a:ext cx="5026806" cy="1694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11276" y="124175"/>
            <a:ext cx="932726" cy="52465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3684350" y="4749125"/>
            <a:ext cx="1287000" cy="2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i="1">
                <a:solidFill>
                  <a:schemeClr val="dk1"/>
                </a:solidFill>
              </a:rPr>
              <a:t>Source: Generated using AI </a:t>
            </a:r>
            <a:endParaRPr sz="700" i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1D6FA9"/>
                </a:solidFill>
                <a:latin typeface="Verdana"/>
                <a:ea typeface="Verdana"/>
                <a:cs typeface="Verdana"/>
                <a:sym typeface="Verdana"/>
              </a:rPr>
              <a:t>So how big is this energy problem ?</a:t>
            </a:r>
            <a:endParaRPr>
              <a:solidFill>
                <a:srgbClr val="1D6FA9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1"/>
          </p:nvPr>
        </p:nvSpPr>
        <p:spPr>
          <a:xfrm>
            <a:off x="268950" y="1152475"/>
            <a:ext cx="8520600" cy="12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GPT-3 training ≈ </a:t>
            </a:r>
            <a:r>
              <a:rPr lang="en" sz="1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1.3 million kWh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sz="1400" i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one AI query ≈ </a:t>
            </a:r>
            <a:r>
              <a:rPr lang="en" sz="1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2.9 Wh vs 0.3 Wh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 a web search</a:t>
            </a:r>
            <a:br>
              <a:rPr lang="en" sz="1400" i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" sz="900" i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(source : Medium, R. Thompson, Article:  AI’s Dirty Secret …) </a:t>
            </a:r>
            <a:r>
              <a:rPr lang="en" sz="1400" i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endParaRPr sz="1400" i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95400" y="26121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1D6FA9"/>
                </a:solidFill>
                <a:latin typeface="Verdana"/>
                <a:ea typeface="Verdana"/>
                <a:cs typeface="Verdana"/>
                <a:sym typeface="Verdana"/>
              </a:rPr>
              <a:t>And why biological inspired approach ?</a:t>
            </a:r>
            <a:endParaRPr>
              <a:solidFill>
                <a:srgbClr val="1D6FA9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95400" y="3468473"/>
            <a:ext cx="8520600" cy="11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23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→ nature hints there's a far more efficient way </a:t>
            </a: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19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→ </a:t>
            </a:r>
            <a:r>
              <a:rPr lang="en" sz="1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Human Brain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:  approx. 12 watts (inspiration, not a current claim) </a:t>
            </a: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9375" y="1017722"/>
            <a:ext cx="2046627" cy="125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99574" y="3433300"/>
            <a:ext cx="1186228" cy="125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11276" y="124175"/>
            <a:ext cx="932726" cy="52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1D6FA9"/>
                </a:solidFill>
                <a:latin typeface="Verdana"/>
                <a:ea typeface="Verdana"/>
                <a:cs typeface="Verdana"/>
                <a:sym typeface="Verdana"/>
              </a:rPr>
              <a:t>Others’ existing work so far:</a:t>
            </a:r>
            <a:endParaRPr>
              <a:solidFill>
                <a:srgbClr val="1D6FA9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1" name="Google Shape;91;p17"/>
          <p:cNvSpPr txBox="1">
            <a:spLocks noGrp="1"/>
          </p:cNvSpPr>
          <p:nvPr>
            <p:ph type="body" idx="1"/>
          </p:nvPr>
        </p:nvSpPr>
        <p:spPr>
          <a:xfrm>
            <a:off x="357475" y="1101025"/>
            <a:ext cx="60909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882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sz="1882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Verdana"/>
              <a:buChar char="●"/>
            </a:pPr>
            <a:r>
              <a:rPr lang="en" sz="5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Open community project comparing frameworks on raw latency – Open Neuromorphic</a:t>
            </a:r>
            <a:endParaRPr sz="5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59784"/>
              <a:buNone/>
            </a:pPr>
            <a:r>
              <a:rPr lang="en" sz="301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(source : </a:t>
            </a:r>
            <a:r>
              <a:rPr lang="en" sz="3011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3"/>
              </a:rPr>
              <a:t>https://github.com/open-neuromorphic/snn-library-benchmarks</a:t>
            </a:r>
            <a:r>
              <a:rPr lang="en" sz="301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br>
              <a:rPr lang="en" sz="301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sz="301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7692"/>
              <a:buFont typeface="Verdana"/>
              <a:buChar char="●"/>
            </a:pPr>
            <a:r>
              <a:rPr lang="en" sz="5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Compared simulation frameworks, majorly on  speed — Science Advances (2023) </a:t>
            </a:r>
            <a:br>
              <a:rPr lang="en" sz="5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" sz="5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" sz="3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(source : </a:t>
            </a:r>
            <a:r>
              <a:rPr lang="en" sz="3000" u="sng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https://www.science.org/doi/10.1126/sciadv.adi1480</a:t>
            </a:r>
            <a:r>
              <a:rPr lang="en" sz="3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) </a:t>
            </a:r>
            <a:endParaRPr sz="3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59784"/>
              <a:buNone/>
            </a:pPr>
            <a:endParaRPr sz="301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5882"/>
              <a:buNone/>
            </a:pPr>
            <a:b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05882"/>
              <a:buNone/>
            </a:pP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17"/>
          <p:cNvPicPr preferRelativeResize="0"/>
          <p:nvPr/>
        </p:nvPicPr>
        <p:blipFill rotWithShape="1">
          <a:blip r:embed="rId5">
            <a:alphaModFix/>
          </a:blip>
          <a:srcRect l="2743"/>
          <a:stretch/>
        </p:blipFill>
        <p:spPr>
          <a:xfrm>
            <a:off x="6855475" y="860600"/>
            <a:ext cx="1800975" cy="25850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 txBox="1"/>
          <p:nvPr/>
        </p:nvSpPr>
        <p:spPr>
          <a:xfrm>
            <a:off x="6809700" y="3657425"/>
            <a:ext cx="2136900" cy="4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i="1">
                <a:solidFill>
                  <a:schemeClr val="dk1"/>
                </a:solidFill>
              </a:rPr>
              <a:t>Source: Model Speed comparisons across frameworks from  Science Advances Research Journal</a:t>
            </a:r>
            <a:endParaRPr sz="700" i="1">
              <a:solidFill>
                <a:schemeClr val="dk1"/>
              </a:solidFill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11276" y="124175"/>
            <a:ext cx="932726" cy="52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1D6FA9"/>
                </a:solidFill>
                <a:latin typeface="Verdana"/>
                <a:ea typeface="Verdana"/>
                <a:cs typeface="Verdana"/>
                <a:sym typeface="Verdana"/>
              </a:rPr>
              <a:t>Others’ existing work so far (continued)</a:t>
            </a:r>
            <a:endParaRPr>
              <a:solidFill>
                <a:srgbClr val="1D6FA9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0" name="Google Shape;100;p18"/>
          <p:cNvSpPr txBox="1">
            <a:spLocks noGrp="1"/>
          </p:cNvSpPr>
          <p:nvPr>
            <p:ph type="title"/>
          </p:nvPr>
        </p:nvSpPr>
        <p:spPr>
          <a:xfrm>
            <a:off x="311700" y="386151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1D6FA9"/>
                </a:solidFill>
                <a:latin typeface="Verdana"/>
                <a:ea typeface="Verdana"/>
                <a:cs typeface="Verdana"/>
                <a:sym typeface="Verdana"/>
              </a:rPr>
              <a:t>Our Approach:</a:t>
            </a:r>
            <a:br>
              <a:rPr lang="en">
                <a:solidFill>
                  <a:srgbClr val="1D6FA9"/>
                </a:solidFill>
                <a:latin typeface="Verdana"/>
                <a:ea typeface="Verdana"/>
                <a:cs typeface="Verdana"/>
                <a:sym typeface="Verdana"/>
              </a:rPr>
            </a:br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473150" y="4334592"/>
            <a:ext cx="57615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Verdana"/>
              <a:buChar char="●"/>
            </a:pPr>
            <a:r>
              <a:rPr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compare accuracy, memory, energy &amp; ease of use together, then optimize further</a:t>
            </a:r>
            <a:endParaRPr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" name="Google Shape;10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11276" y="124175"/>
            <a:ext cx="932726" cy="52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1250" y="1325075"/>
            <a:ext cx="4741225" cy="231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9E76138-0C3D-609C-602D-0F08888AF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36" y="1593580"/>
            <a:ext cx="4107667" cy="31948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B61727-08EB-0BD1-CD0B-D8D404D7D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8582" y="1713188"/>
            <a:ext cx="4969576" cy="3162457"/>
          </a:xfrm>
          <a:prstGeom prst="rect">
            <a:avLst/>
          </a:prstGeom>
        </p:spPr>
      </p:pic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0E24F2B5-B235-F768-2418-E54A7D1FC1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710" y="176877"/>
            <a:ext cx="822960" cy="82296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2705AE42-685E-9469-C6FD-C397BF9C9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670" y="355068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de-DE" dirty="0" err="1"/>
              <a:t>Biologically</a:t>
            </a:r>
            <a:r>
              <a:rPr lang="de-DE" dirty="0"/>
              <a:t> </a:t>
            </a:r>
            <a:r>
              <a:rPr lang="de-DE" dirty="0" err="1"/>
              <a:t>inspired</a:t>
            </a:r>
            <a:r>
              <a:rPr lang="de-DE" dirty="0"/>
              <a:t> </a:t>
            </a:r>
            <a:r>
              <a:rPr lang="de-DE" dirty="0" err="1"/>
              <a:t>neural</a:t>
            </a:r>
            <a:r>
              <a:rPr lang="de-DE" dirty="0"/>
              <a:t> </a:t>
            </a:r>
            <a:r>
              <a:rPr lang="de-DE" dirty="0" err="1"/>
              <a:t>dynamic</a:t>
            </a:r>
            <a:r>
              <a:rPr lang="de-DE" dirty="0"/>
              <a:t> </a:t>
            </a:r>
            <a:r>
              <a:rPr lang="de-DE" dirty="0" err="1"/>
              <a:t>behaviour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638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5936C9-64FB-D69A-2861-87CEC1184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4350"/>
            <a:ext cx="91440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887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EC685D-A162-7B64-E1A3-699F1CFC4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3568"/>
            <a:ext cx="9144000" cy="4156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594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202CB-801B-C3E4-E0D0-60E3530B8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1546B-59CA-E76B-4F2F-6D401079FD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098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&amp; Inference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493776"/>
          </a:xfrm>
          <a:prstGeom prst="roundRect">
            <a:avLst>
              <a:gd name="adj" fmla="val 11111"/>
            </a:avLst>
          </a:prstGeom>
          <a:solidFill>
            <a:srgbClr val="1A3052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4048" y="8412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4048" y="10698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skeleton.Settings reads SNN_module.yaml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31720" y="1316736"/>
            <a:ext cx="0" cy="82296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399032"/>
            <a:ext cx="4114800" cy="493776"/>
          </a:xfrm>
          <a:prstGeom prst="roundRect">
            <a:avLst>
              <a:gd name="adj" fmla="val 11111"/>
            </a:avLst>
          </a:prstGeom>
          <a:solidFill>
            <a:srgbClr val="1A3052"/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1417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NeuromorphicEncoder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16459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event_data_workflow: DVS events → DataLoader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31720" y="1892808"/>
            <a:ext cx="0" cy="82296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975104"/>
            <a:ext cx="4114800" cy="493776"/>
          </a:xfrm>
          <a:prstGeom prst="roundRect">
            <a:avLst>
              <a:gd name="adj" fmla="val 11111"/>
            </a:avLst>
          </a:prstGeom>
          <a:solidFill>
            <a:srgbClr val="1A3052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048" y="19933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Model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4048" y="22219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MODELS[cfg.FRAMEWORK] → SNN_NORSE / TORCH / SJ…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331720" y="2468880"/>
            <a:ext cx="0" cy="82296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331720" y="2505247"/>
            <a:ext cx="0" cy="82296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2587543"/>
            <a:ext cx="4114800" cy="493776"/>
          </a:xfrm>
          <a:prstGeom prst="roundRect">
            <a:avLst>
              <a:gd name="adj" fmla="val 11111"/>
            </a:avLst>
          </a:prstGeom>
          <a:solidFill>
            <a:srgbClr val="1A3052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4048" y="2605831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SNNTrainer.train()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84048" y="2834431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BPTT + TRADES + STDP + Activity Reg per batch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331720" y="3081319"/>
            <a:ext cx="0" cy="82296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4320" y="3163615"/>
            <a:ext cx="4114800" cy="493776"/>
          </a:xfrm>
          <a:prstGeom prst="roundRect">
            <a:avLst>
              <a:gd name="adj" fmla="val 11111"/>
            </a:avLst>
          </a:prstGeom>
          <a:solidFill>
            <a:srgbClr val="1A3052"/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4048" y="3181903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SNNTester.run()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84048" y="3410503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· Energy/sample (pJ) · Firing rate (Hz)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331720" y="3657391"/>
            <a:ext cx="0" cy="82296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3739687"/>
            <a:ext cx="4114800" cy="493776"/>
          </a:xfrm>
          <a:prstGeom prst="roundRect">
            <a:avLst>
              <a:gd name="adj" fmla="val 11111"/>
            </a:avLst>
          </a:prstGeom>
          <a:solidFill>
            <a:srgbClr val="1A3052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84048" y="3757975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AdversarialEvaluator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84048" y="3986575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 robustness: KL-div under ε-perturbation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804672"/>
            <a:ext cx="4160520" cy="3620132"/>
          </a:xfrm>
          <a:prstGeom prst="roundRect">
            <a:avLst>
              <a:gd name="adj" fmla="val 2198"/>
            </a:avLst>
          </a:prstGeom>
          <a:solidFill>
            <a:srgbClr val="142840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896112"/>
            <a:ext cx="365760" cy="36576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5230368" y="87782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Backends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4800600" y="1389888"/>
            <a:ext cx="3913632" cy="365760"/>
          </a:xfrm>
          <a:prstGeom prst="roundRect">
            <a:avLst>
              <a:gd name="adj" fmla="val 10000"/>
            </a:avLst>
          </a:prstGeom>
          <a:solidFill>
            <a:srgbClr val="1A30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892040" y="14264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Norse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199632" y="14264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— LIF cell, tau_mem_inv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4892040" y="14264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4800600" y="1810512"/>
            <a:ext cx="3913632" cy="365760"/>
          </a:xfrm>
          <a:prstGeom prst="roundRect">
            <a:avLst>
              <a:gd name="adj" fmla="val 10000"/>
            </a:avLst>
          </a:prstGeom>
          <a:solidFill>
            <a:srgbClr val="0D20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4892040" y="18470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SNNTorch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6199632" y="18470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Alpha/Leaky neurons, MSE count loss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892040" y="18470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4800600" y="2231136"/>
            <a:ext cx="3913632" cy="365760"/>
          </a:xfrm>
          <a:prstGeom prst="roundRect">
            <a:avLst>
              <a:gd name="adj" fmla="val 10000"/>
            </a:avLst>
          </a:prstGeom>
          <a:solidFill>
            <a:srgbClr val="1A30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4892040" y="22677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SpikingJelly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199632" y="22677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Izhikevich neurons, pre-summed [B,C]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892040" y="22677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4800600" y="2651760"/>
            <a:ext cx="3913632" cy="365760"/>
          </a:xfrm>
          <a:prstGeom prst="roundRect">
            <a:avLst>
              <a:gd name="adj" fmla="val 10000"/>
            </a:avLst>
          </a:prstGeom>
          <a:solidFill>
            <a:srgbClr val="0D20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4892040" y="268833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Sinabs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6199632" y="26883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DVS-first, exports to SynSense Speck chip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4892040" y="26883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4800600" y="3072384"/>
            <a:ext cx="3913632" cy="365760"/>
          </a:xfrm>
          <a:prstGeom prst="roundRect">
            <a:avLst>
              <a:gd name="adj" fmla="val 10000"/>
            </a:avLst>
          </a:prstGeom>
          <a:solidFill>
            <a:srgbClr val="1A30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4892040" y="31089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BindsNET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6199632" y="3108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STDP-only, no BPTT backprop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4892040" y="3108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4800600" y="3493008"/>
            <a:ext cx="3913632" cy="365760"/>
          </a:xfrm>
          <a:prstGeom prst="roundRect">
            <a:avLst>
              <a:gd name="adj" fmla="val 10000"/>
            </a:avLst>
          </a:prstGeom>
          <a:solidFill>
            <a:srgbClr val="0D20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4892040" y="352958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Spyx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6199632" y="35295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 + Haiku, DLPack bridge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4892040" y="35295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4800600" y="3913632"/>
            <a:ext cx="3913632" cy="365760"/>
          </a:xfrm>
          <a:prstGeom prst="roundRect">
            <a:avLst>
              <a:gd name="adj" fmla="val 10000"/>
            </a:avLst>
          </a:prstGeom>
          <a:solidFill>
            <a:srgbClr val="1A30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/>
          <p:nvPr/>
        </p:nvSpPr>
        <p:spPr>
          <a:xfrm>
            <a:off x="4892040" y="39502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JAX / Flax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6199632" y="39502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XLA training, DLPack at boundary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4892040" y="39502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8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41BA6F-AFD4-6942-E93B-940723953080}"/>
              </a:ext>
            </a:extLst>
          </p:cNvPr>
          <p:cNvSpPr txBox="1"/>
          <p:nvPr/>
        </p:nvSpPr>
        <p:spPr>
          <a:xfrm>
            <a:off x="863600" y="4636655"/>
            <a:ext cx="70011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wont be building our own rather </a:t>
            </a:r>
            <a:r>
              <a:rPr lang="en-US" dirty="0" err="1"/>
              <a:t>utilising</a:t>
            </a:r>
            <a:r>
              <a:rPr lang="en-US" dirty="0"/>
              <a:t> the build community and popular frameworks and wanting to simulate them on </a:t>
            </a:r>
            <a:r>
              <a:rPr lang="en-US" dirty="0" err="1"/>
              <a:t>gpus</a:t>
            </a:r>
            <a:r>
              <a:rPr lang="en-US" dirty="0"/>
              <a:t>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C0F62B4A-00C9-677E-C9AA-103C702E4F11}"/>
              </a:ext>
            </a:extLst>
          </p:cNvPr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Python platform: configuration, framework wrappers, data pipeline, training, and evaluation.</a:t>
            </a:r>
            <a:endParaRPr lang="en-US" sz="1300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8FD2AA4E-BABC-73D5-BDEA-8EFA3165C3B2}"/>
              </a:ext>
            </a:extLst>
          </p:cNvPr>
          <p:cNvSpPr/>
          <p:nvPr/>
        </p:nvSpPr>
        <p:spPr>
          <a:xfrm>
            <a:off x="274320" y="1207008"/>
            <a:ext cx="4160520" cy="1664208"/>
          </a:xfrm>
          <a:prstGeom prst="roundRect">
            <a:avLst>
              <a:gd name="adj" fmla="val 5495"/>
            </a:avLst>
          </a:prstGeom>
          <a:solidFill>
            <a:srgbClr val="1A3052"/>
          </a:solidFill>
          <a:ln w="19050">
            <a:solidFill>
              <a:srgbClr val="5EEAD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D8114C7E-E902-8727-8F39-D37D3112B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98448"/>
            <a:ext cx="347472" cy="347472"/>
          </a:xfrm>
          <a:prstGeom prst="rect">
            <a:avLst/>
          </a:prstGeom>
        </p:spPr>
      </p:pic>
      <p:sp>
        <p:nvSpPr>
          <p:cNvPr id="11" name="Text 4">
            <a:extLst>
              <a:ext uri="{FF2B5EF4-FFF2-40B4-BE49-F238E27FC236}">
                <a16:creationId xmlns:a16="http://schemas.microsoft.com/office/drawing/2014/main" id="{B1AA9267-6BFC-7429-31A6-C4A81F6EC08D}"/>
              </a:ext>
            </a:extLst>
          </p:cNvPr>
          <p:cNvSpPr/>
          <p:nvPr/>
        </p:nvSpPr>
        <p:spPr>
          <a:xfrm>
            <a:off x="841248" y="129844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src/learning/</a:t>
            </a:r>
            <a:endParaRPr lang="en-US" sz="14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8B3A266B-D7AC-FFD3-3565-EF94BE463B7C}"/>
              </a:ext>
            </a:extLst>
          </p:cNvPr>
          <p:cNvSpPr/>
          <p:nvPr/>
        </p:nvSpPr>
        <p:spPr>
          <a:xfrm>
            <a:off x="411480" y="16824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· Inference · Adversarial Eval</a:t>
            </a:r>
            <a:endParaRPr lang="en-US" sz="90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25A8D72C-D518-E6A8-3897-542622835CCC}"/>
              </a:ext>
            </a:extLst>
          </p:cNvPr>
          <p:cNvSpPr/>
          <p:nvPr/>
        </p:nvSpPr>
        <p:spPr>
          <a:xfrm>
            <a:off x="411480" y="192024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— entry point, wires all components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training.py — SNNTrainer: BPTT, TRADES, STDP, Activity Reg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inference.py — SNNTester: accuracy, energy, firing rate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adversarial_robustness.py — AdversarialEvaluator (TRADES)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frameworks/ — one file per SNN backend</a:t>
            </a:r>
            <a:endParaRPr lang="en-US" sz="850" dirty="0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CC716150-BD28-4A29-9165-1BE9A13AA504}"/>
              </a:ext>
            </a:extLst>
          </p:cNvPr>
          <p:cNvSpPr/>
          <p:nvPr/>
        </p:nvSpPr>
        <p:spPr>
          <a:xfrm>
            <a:off x="4617720" y="1207008"/>
            <a:ext cx="4160520" cy="1664208"/>
          </a:xfrm>
          <a:prstGeom prst="roundRect">
            <a:avLst>
              <a:gd name="adj" fmla="val 5495"/>
            </a:avLst>
          </a:prstGeom>
          <a:solidFill>
            <a:srgbClr val="142840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>
            <a:extLst>
              <a:ext uri="{FF2B5EF4-FFF2-40B4-BE49-F238E27FC236}">
                <a16:creationId xmlns:a16="http://schemas.microsoft.com/office/drawing/2014/main" id="{4716A3EA-6054-503B-D17D-1A147A0D1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298448"/>
            <a:ext cx="347472" cy="347472"/>
          </a:xfrm>
          <a:prstGeom prst="rect">
            <a:avLst/>
          </a:prstGeom>
        </p:spPr>
      </p:pic>
      <p:sp>
        <p:nvSpPr>
          <p:cNvPr id="21" name="Text 8">
            <a:extLst>
              <a:ext uri="{FF2B5EF4-FFF2-40B4-BE49-F238E27FC236}">
                <a16:creationId xmlns:a16="http://schemas.microsoft.com/office/drawing/2014/main" id="{EC366A27-10C9-8700-D5BB-F64921C16018}"/>
              </a:ext>
            </a:extLst>
          </p:cNvPr>
          <p:cNvSpPr/>
          <p:nvPr/>
        </p:nvSpPr>
        <p:spPr>
          <a:xfrm>
            <a:off x="5184648" y="129844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skeleton/</a:t>
            </a:r>
            <a:endParaRPr lang="en-US" sz="14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DC6417CE-F6DF-0346-3098-F3A4F4783935}"/>
              </a:ext>
            </a:extLst>
          </p:cNvPr>
          <p:cNvSpPr/>
          <p:nvPr/>
        </p:nvSpPr>
        <p:spPr>
          <a:xfrm>
            <a:off x="4754880" y="16824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· Settings · Network Generation</a:t>
            </a:r>
            <a:endParaRPr lang="en-US" sz="900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C94960D6-DEBB-6835-F48B-4DE87A5D55EF}"/>
              </a:ext>
            </a:extLst>
          </p:cNvPr>
          <p:cNvSpPr/>
          <p:nvPr/>
        </p:nvSpPr>
        <p:spPr>
          <a:xfrm>
            <a:off x="4754880" y="192024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snn_config.py — Settings class, reads two YAML files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SNN_module.yaml — all runtime parameters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network_architecture.yaml — Conv-SNN topology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network_struct: S (stable) | A (ascending) | D (descending)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generate_network_structure() builds layer list at init</a:t>
            </a:r>
            <a:endParaRPr lang="en-US" sz="850" dirty="0"/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02A326DB-DC77-E917-D5F1-FCF3C8217BF7}"/>
              </a:ext>
            </a:extLst>
          </p:cNvPr>
          <p:cNvSpPr/>
          <p:nvPr/>
        </p:nvSpPr>
        <p:spPr>
          <a:xfrm>
            <a:off x="274320" y="481888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point: python src/learning/main.py  |  Reads SNN_module.yaml → builds model → trains → evaluates</a:t>
            </a:r>
            <a:endParaRPr lang="en-US" sz="900" dirty="0"/>
          </a:p>
        </p:txBody>
      </p:sp>
      <p:sp>
        <p:nvSpPr>
          <p:cNvPr id="29" name="Text 1">
            <a:extLst>
              <a:ext uri="{FF2B5EF4-FFF2-40B4-BE49-F238E27FC236}">
                <a16:creationId xmlns:a16="http://schemas.microsoft.com/office/drawing/2014/main" id="{CE503CED-85F9-12CD-4459-2E252B54D267}"/>
              </a:ext>
            </a:extLst>
          </p:cNvPr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Overview — Project Structure</a:t>
            </a: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8DDCA3-BF9A-EC3A-D832-36CB70F203E0}"/>
              </a:ext>
            </a:extLst>
          </p:cNvPr>
          <p:cNvSpPr txBox="1"/>
          <p:nvPr/>
        </p:nvSpPr>
        <p:spPr>
          <a:xfrm>
            <a:off x="1251526" y="3569855"/>
            <a:ext cx="63684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What are doing to simulate them on </a:t>
            </a:r>
            <a:r>
              <a:rPr lang="en-US" dirty="0" err="1"/>
              <a:t>gpu</a:t>
            </a:r>
            <a:r>
              <a:rPr lang="en-US" dirty="0"/>
              <a:t> like we have this design in place and want to develop a constructive testing and simulating environment. 1 visual containing our roadmap.</a:t>
            </a:r>
          </a:p>
        </p:txBody>
      </p:sp>
    </p:spTree>
    <p:extLst>
      <p:ext uri="{BB962C8B-B14F-4D97-AF65-F5344CB8AC3E}">
        <p14:creationId xmlns:p14="http://schemas.microsoft.com/office/powerpoint/2010/main" val="2276957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2A016-A422-25F8-FEF8-BE68F2A90F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B85384-0BC9-4FDE-2A90-8266DD8A0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1996"/>
            <a:ext cx="9144000" cy="4191000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79845182-CDA9-F2E5-09E4-D666C98A686D}"/>
              </a:ext>
            </a:extLst>
          </p:cNvPr>
          <p:cNvSpPr/>
          <p:nvPr/>
        </p:nvSpPr>
        <p:spPr>
          <a:xfrm>
            <a:off x="517237" y="261043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Setup Architecture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0881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96D48-8FBC-C528-A958-BD4B9C925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81126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de-DE" dirty="0" err="1"/>
              <a:t>GeNN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2C1FBB-DC05-8E57-0310-740B559C3C6C}"/>
              </a:ext>
            </a:extLst>
          </p:cNvPr>
          <p:cNvSpPr txBox="1"/>
          <p:nvPr/>
        </p:nvSpPr>
        <p:spPr>
          <a:xfrm>
            <a:off x="311700" y="674561"/>
            <a:ext cx="7121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GeNN</a:t>
            </a:r>
            <a:r>
              <a:rPr lang="en-US" dirty="0"/>
              <a:t> is a GPU-enhanced Neuronal Network simulation environment based on code generation for NVIDIA CUDA and AMD HIP.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C8CD77-FACD-D5DE-A19D-CF7A17930762}"/>
              </a:ext>
            </a:extLst>
          </p:cNvPr>
          <p:cNvSpPr txBox="1"/>
          <p:nvPr/>
        </p:nvSpPr>
        <p:spPr>
          <a:xfrm>
            <a:off x="4498109" y="15162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 refer to one extra work that is relates to </a:t>
            </a:r>
            <a:r>
              <a:rPr lang="en-US" dirty="0" err="1"/>
              <a:t>GeNN</a:t>
            </a:r>
            <a:r>
              <a:rPr lang="en-US" dirty="0"/>
              <a:t>. It's an appropriate </a:t>
            </a:r>
            <a:r>
              <a:rPr lang="en-US" dirty="0" err="1"/>
              <a:t>snn</a:t>
            </a:r>
            <a:r>
              <a:rPr lang="en-US" dirty="0"/>
              <a:t> built on </a:t>
            </a:r>
            <a:r>
              <a:rPr lang="en-US" dirty="0" err="1"/>
              <a:t>c++</a:t>
            </a:r>
            <a:r>
              <a:rPr lang="en-US" dirty="0"/>
              <a:t> but needs to be evaluated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F74F52-C7C7-143F-221E-09B14004399B}"/>
              </a:ext>
            </a:extLst>
          </p:cNvPr>
          <p:cNvSpPr txBox="1"/>
          <p:nvPr/>
        </p:nvSpPr>
        <p:spPr>
          <a:xfrm>
            <a:off x="350981" y="1139568"/>
            <a:ext cx="67286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tx1"/>
                </a:solidFill>
                <a:effectLst/>
                <a:latin typeface="-apple-system"/>
              </a:rPr>
              <a:t>you specify neuron/synapse models through a Python API (</a:t>
            </a:r>
            <a:r>
              <a:rPr lang="en-US" b="0" i="0" dirty="0" err="1">
                <a:solidFill>
                  <a:schemeClr val="tx1"/>
                </a:solidFill>
                <a:effectLst/>
                <a:latin typeface="-apple-system"/>
              </a:rPr>
              <a:t>PyGeNN</a:t>
            </a:r>
            <a:r>
              <a:rPr lang="en-US" b="0" i="0" dirty="0">
                <a:solidFill>
                  <a:schemeClr val="tx1"/>
                </a:solidFill>
                <a:effectLst/>
                <a:latin typeface="-apple-system"/>
              </a:rPr>
              <a:t>), and it compiles those specs ahead-of-time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265252-337E-7059-DA8A-FF9D0A256C82}"/>
              </a:ext>
            </a:extLst>
          </p:cNvPr>
          <p:cNvSpPr txBox="1"/>
          <p:nvPr/>
        </p:nvSpPr>
        <p:spPr>
          <a:xfrm>
            <a:off x="350981" y="1583523"/>
            <a:ext cx="65463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 err="1">
                <a:solidFill>
                  <a:schemeClr val="tx1"/>
                </a:solidFill>
                <a:effectLst/>
                <a:latin typeface="-apple-system"/>
              </a:rPr>
              <a:t>GeNN's</a:t>
            </a:r>
            <a:r>
              <a:rPr lang="en-US" b="0" i="0" dirty="0">
                <a:solidFill>
                  <a:schemeClr val="tx1"/>
                </a:solidFill>
                <a:effectLst/>
                <a:latin typeface="-apple-system"/>
              </a:rPr>
              <a:t> entire reason to exist is the claim that </a:t>
            </a:r>
            <a:r>
              <a:rPr lang="en-US" b="1" i="0" dirty="0">
                <a:solidFill>
                  <a:schemeClr val="tx1"/>
                </a:solidFill>
                <a:effectLst/>
                <a:latin typeface="-apple-system"/>
              </a:rPr>
              <a:t>code-generated kernels beat interpreted/</a:t>
            </a:r>
            <a:r>
              <a:rPr lang="en-US" b="1" i="0" dirty="0" err="1">
                <a:solidFill>
                  <a:schemeClr val="tx1"/>
                </a:solidFill>
                <a:effectLst/>
                <a:latin typeface="-apple-system"/>
              </a:rPr>
              <a:t>autograd</a:t>
            </a:r>
            <a:r>
              <a:rPr lang="en-US" b="1" i="0" dirty="0">
                <a:solidFill>
                  <a:schemeClr val="tx1"/>
                </a:solidFill>
                <a:effectLst/>
                <a:latin typeface="-apple-system"/>
              </a:rPr>
              <a:t> execution at scale</a:t>
            </a:r>
            <a:r>
              <a:rPr lang="en-US" b="0" i="0" dirty="0">
                <a:solidFill>
                  <a:schemeClr val="tx1"/>
                </a:solidFill>
                <a:effectLst/>
                <a:latin typeface="-apple-system"/>
              </a:rPr>
              <a:t>.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AF63590-0520-2D17-27C1-28CF1743AF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889"/>
          <a:stretch>
            <a:fillRect/>
          </a:stretch>
        </p:blipFill>
        <p:spPr>
          <a:xfrm>
            <a:off x="244763" y="2335283"/>
            <a:ext cx="8280400" cy="2218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0163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CC5D3-CF41-3BAE-EC20-BC149A79B808}"/>
              </a:ext>
            </a:extLst>
          </p:cNvPr>
          <p:cNvSpPr txBox="1">
            <a:spLocks/>
          </p:cNvSpPr>
          <p:nvPr/>
        </p:nvSpPr>
        <p:spPr>
          <a:xfrm>
            <a:off x="311700" y="181126"/>
            <a:ext cx="8520600" cy="572700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de-DE"/>
              <a:t>GeNN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1B0548-028C-DE67-CD00-421BC9403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54" y="520969"/>
            <a:ext cx="9144000" cy="24390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AB8AAC-E69D-785A-CD59-2453E57CF48F}"/>
              </a:ext>
            </a:extLst>
          </p:cNvPr>
          <p:cNvSpPr txBox="1"/>
          <p:nvPr/>
        </p:nvSpPr>
        <p:spPr>
          <a:xfrm>
            <a:off x="554180" y="3076261"/>
            <a:ext cx="798483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-apple-system"/>
              </a:rPr>
              <a:t>but it has none of the deep-learning layer abstractions our project depends on — no </a:t>
            </a:r>
            <a:r>
              <a:rPr lang="en-US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Conv2d</a:t>
            </a:r>
            <a:r>
              <a:rPr lang="en-US" b="0" i="0" dirty="0">
                <a:solidFill>
                  <a:schemeClr val="tx1"/>
                </a:solidFill>
                <a:effectLst/>
                <a:latin typeface="-apple-system"/>
              </a:rPr>
              <a:t>, no </a:t>
            </a:r>
            <a:r>
              <a:rPr lang="en-US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MaxPool2d</a:t>
            </a:r>
            <a:r>
              <a:rPr lang="en-US" b="0" i="0" dirty="0">
                <a:solidFill>
                  <a:schemeClr val="tx1"/>
                </a:solidFill>
                <a:effectLst/>
                <a:latin typeface="-apple-system"/>
              </a:rPr>
              <a:t>, no </a:t>
            </a:r>
            <a:r>
              <a:rPr lang="en-US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Sequential</a:t>
            </a:r>
            <a:r>
              <a:rPr lang="en-US" b="0" i="0" dirty="0">
                <a:solidFill>
                  <a:schemeClr val="tx1"/>
                </a:solidFill>
                <a:effectLst/>
                <a:latin typeface="-apple-system"/>
              </a:rPr>
              <a:t>, no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-apple-system"/>
              </a:rPr>
              <a:t>autograd</a:t>
            </a:r>
            <a:r>
              <a:rPr lang="en-US" b="0" i="0" dirty="0">
                <a:solidFill>
                  <a:schemeClr val="tx1"/>
                </a:solidFill>
                <a:effectLst/>
                <a:latin typeface="-apple-system"/>
              </a:rPr>
              <a:t> through stacked heterogeneous layers. Building our actual architecture (</a:t>
            </a:r>
            <a:r>
              <a:rPr lang="en-US" b="0" i="0" dirty="0" err="1">
                <a:solidFill>
                  <a:schemeClr val="tx1"/>
                </a:solidFill>
                <a:effectLst/>
                <a:latin typeface="-apple-system"/>
              </a:rPr>
              <a:t>Conv→LIF→Pool→Conv→LIF→Pool→FC→LIF</a:t>
            </a:r>
            <a:r>
              <a:rPr lang="en-US" b="0" i="0" dirty="0">
                <a:solidFill>
                  <a:schemeClr val="tx1"/>
                </a:solidFill>
                <a:effectLst/>
                <a:latin typeface="-apple-system"/>
              </a:rPr>
              <a:t>, trained end-to-end with backprop) in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-apple-system"/>
              </a:rPr>
              <a:t>GeNN</a:t>
            </a:r>
            <a:r>
              <a:rPr lang="en-US" b="0" i="0" dirty="0">
                <a:solidFill>
                  <a:schemeClr val="tx1"/>
                </a:solidFill>
                <a:effectLst/>
                <a:latin typeface="-apple-system"/>
              </a:rPr>
              <a:t> would mean hand-wiring every connection ourselves —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-apple-system"/>
              </a:rPr>
              <a:t>GeNN</a:t>
            </a:r>
            <a:r>
              <a:rPr lang="en-US" b="0" i="0" dirty="0">
                <a:solidFill>
                  <a:schemeClr val="tx1"/>
                </a:solidFill>
                <a:effectLst/>
                <a:latin typeface="-apple-system"/>
              </a:rPr>
              <a:t> gives you no scaffolding for "deep."</a:t>
            </a:r>
          </a:p>
          <a:p>
            <a:pPr algn="l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-apple-system"/>
              </a:rPr>
              <a:t>That changes what a fair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-apple-system"/>
              </a:rPr>
              <a:t>GeNN</a:t>
            </a:r>
            <a:r>
              <a:rPr lang="en-US" b="0" i="0" dirty="0">
                <a:solidFill>
                  <a:schemeClr val="tx1"/>
                </a:solidFill>
                <a:effectLst/>
                <a:latin typeface="-apple-system"/>
              </a:rPr>
              <a:t> benchmark actually looks like:</a:t>
            </a:r>
          </a:p>
          <a:p>
            <a:pPr algn="l">
              <a:buNone/>
            </a:pPr>
            <a:r>
              <a:rPr lang="en-US" b="1" i="0" dirty="0">
                <a:solidFill>
                  <a:schemeClr val="tx1"/>
                </a:solidFill>
                <a:effectLst/>
                <a:latin typeface="-apple-system"/>
              </a:rPr>
              <a:t>What it can't be:</a:t>
            </a:r>
            <a:r>
              <a:rPr lang="en-US" b="0" i="0" dirty="0">
                <a:solidFill>
                  <a:schemeClr val="tx1"/>
                </a:solidFill>
                <a:effectLst/>
                <a:latin typeface="-apple-system"/>
              </a:rPr>
              <a:t> "implement our conv-SNN classifier in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-apple-system"/>
              </a:rPr>
              <a:t>PyGeNN</a:t>
            </a:r>
            <a:r>
              <a:rPr lang="en-US" b="0" i="0" dirty="0">
                <a:solidFill>
                  <a:schemeClr val="tx1"/>
                </a:solidFill>
                <a:effectLst/>
                <a:latin typeface="-apple-system"/>
              </a:rPr>
              <a:t> and compare training accuracy/runtime" — that's not a benchmark, that's reimplementing a deep learning framework's layer system from scratch inside a tool that was never built to have one.</a:t>
            </a:r>
          </a:p>
        </p:txBody>
      </p:sp>
    </p:spTree>
    <p:extLst>
      <p:ext uri="{BB962C8B-B14F-4D97-AF65-F5344CB8AC3E}">
        <p14:creationId xmlns:p14="http://schemas.microsoft.com/office/powerpoint/2010/main" val="22541742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685369-A71A-2145-666F-CB5D6B20D95B}"/>
              </a:ext>
            </a:extLst>
          </p:cNvPr>
          <p:cNvSpPr txBox="1"/>
          <p:nvPr/>
        </p:nvSpPr>
        <p:spPr>
          <a:xfrm>
            <a:off x="535709" y="802612"/>
            <a:ext cx="841894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-apple-system"/>
              </a:rPr>
              <a:t>no multi-layer end-to-end backprop, no event-camera ingestion pipeline, no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-apple-system"/>
              </a:rPr>
              <a:t>PyTorch</a:t>
            </a:r>
            <a:r>
              <a:rPr lang="en-US" b="0" i="0" dirty="0">
                <a:solidFill>
                  <a:schemeClr val="tx1"/>
                </a:solidFill>
                <a:effectLst/>
                <a:latin typeface="-apple-system"/>
              </a:rPr>
              <a:t> interop, no adversarial-robustness tooling. It was never built to be a deep-learning framework — it's a neuron-population simulator.</a:t>
            </a:r>
          </a:p>
          <a:p>
            <a:pPr algn="l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-apple-system"/>
              </a:rPr>
              <a:t>That's exactly why our architectural choice is the appropriate one for this project's actual goal: we're not trying to simulate biologically faithful neuron populations for neuroscience — we're trying to build and train deep, multi-layer spiking classifiers on real event-camera data for an applied perception task (ADAS spatial perception), with robustness guarantees, across multiple interchangeable community frameworks.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-apple-system"/>
              </a:rPr>
              <a:t>GeNN's</a:t>
            </a:r>
            <a:r>
              <a:rPr lang="en-US" b="0" i="0" dirty="0">
                <a:solidFill>
                  <a:schemeClr val="tx1"/>
                </a:solidFill>
                <a:effectLst/>
                <a:latin typeface="-apple-system"/>
              </a:rPr>
              <a:t> existence doesn't compete with that scope, it </a:t>
            </a:r>
            <a:r>
              <a:rPr lang="en-US" b="1" i="0" dirty="0">
                <a:solidFill>
                  <a:schemeClr val="tx1"/>
                </a:solidFill>
                <a:effectLst/>
                <a:latin typeface="-apple-system"/>
              </a:rPr>
              <a:t>confirms the gap</a:t>
            </a:r>
            <a:r>
              <a:rPr lang="en-US" b="0" i="0" dirty="0">
                <a:solidFill>
                  <a:schemeClr val="tx1"/>
                </a:solidFill>
                <a:effectLst/>
                <a:latin typeface="-apple-system"/>
              </a:rPr>
              <a:t>: the kernel-efficiency problem is being handled seriously elsewhere, and nothing in that space touches the deep-learning-pipeline-plus-event-data-integration problem this project actually solves.</a:t>
            </a:r>
          </a:p>
        </p:txBody>
      </p:sp>
    </p:spTree>
    <p:extLst>
      <p:ext uri="{BB962C8B-B14F-4D97-AF65-F5344CB8AC3E}">
        <p14:creationId xmlns:p14="http://schemas.microsoft.com/office/powerpoint/2010/main" val="27679290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 &amp; Regularization Stack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differentiable objectives combine into a single composite loss per training batch: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2834640" cy="3703320"/>
          </a:xfrm>
          <a:prstGeom prst="roundRect">
            <a:avLst>
              <a:gd name="adj" fmla="val 3226"/>
            </a:avLst>
          </a:prstGeom>
          <a:solidFill>
            <a:srgbClr val="1A3052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6187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26187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BPTT + Surrogate Grad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1480" y="16824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Loss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11480" y="1920240"/>
            <a:ext cx="257860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Through Time across T timesteps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Non-differentiable spike fn approximated by surrogate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SNN backend implements its own surrogate function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loss: Cross-Entropy or MSE Count (YAML-selected)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flows through all T timesteps to update weights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27832" y="1170432"/>
            <a:ext cx="2834640" cy="3703320"/>
          </a:xfrm>
          <a:prstGeom prst="roundRect">
            <a:avLst>
              <a:gd name="adj" fmla="val 3226"/>
            </a:avLst>
          </a:prstGeom>
          <a:solidFill>
            <a:srgbClr val="142840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1261872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22192" y="126187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TRADES Adversarial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64992" y="16824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3364992" y="1920240"/>
            <a:ext cx="257860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= CrossEntropy(clean) + λ · KL(clean ∥ adversarial)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PGD inner loop finds worst-case ε-ball perturbation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trades_steps PGD iterations per batch (default 3, rec. 10)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grad via autograd — no parameter grad leak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paused during adversarial forward to isolate STDP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181344" y="1170432"/>
            <a:ext cx="2834640" cy="3703320"/>
          </a:xfrm>
          <a:prstGeom prst="roundRect">
            <a:avLst>
              <a:gd name="adj" fmla="val 3226"/>
            </a:avLst>
          </a:prstGeom>
          <a:solidFill>
            <a:srgbClr val="0C1E38"/>
          </a:solidFill>
          <a:ln w="25400">
            <a:solidFill>
              <a:srgbClr val="14B8A6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8504" y="1261872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75704" y="126187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 Reg. + STDP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18504" y="16824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Bio-Inspired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6318504" y="1920240"/>
            <a:ext cx="257860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Two-sided per-neuron rate penalty on hidden LIF layers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neuron prevention: λ_low if rate &lt; 1% timesteps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 prevention: λ_high if rate &gt; 50% timesteps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STDP causal correlation added as differentiable loss term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STDP tau, A+, A− set in YAML — gradient compatible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274320" y="4846320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losses combine in SNNTrainer.train() — AMP GradScaler wraps the total loss for mixed-precision backward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B7E31BB2-24A5-C363-0F9F-2CD09E8F4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502920" cy="502920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6842A5FB-76F2-D9CB-D532-AE1B696C7819}"/>
              </a:ext>
            </a:extLst>
          </p:cNvPr>
          <p:cNvSpPr/>
          <p:nvPr/>
        </p:nvSpPr>
        <p:spPr>
          <a:xfrm>
            <a:off x="96012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Architecture Takeaways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7FFB6E99-F8D7-E6EB-18A9-5455CFF5E7B5}"/>
              </a:ext>
            </a:extLst>
          </p:cNvPr>
          <p:cNvSpPr/>
          <p:nvPr/>
        </p:nvSpPr>
        <p:spPr>
          <a:xfrm>
            <a:off x="320040" y="914400"/>
            <a:ext cx="4160520" cy="1508760"/>
          </a:xfrm>
          <a:prstGeom prst="roundRect">
            <a:avLst>
              <a:gd name="adj" fmla="val 6061"/>
            </a:avLst>
          </a:prstGeom>
          <a:solidFill>
            <a:srgbClr val="0D2040"/>
          </a:solidFill>
          <a:ln w="19050">
            <a:solidFill>
              <a:srgbClr val="5EEAD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D9F7E8D-EDE0-5DE7-F428-37FFBB4427E8}"/>
              </a:ext>
            </a:extLst>
          </p:cNvPr>
          <p:cNvSpPr/>
          <p:nvPr/>
        </p:nvSpPr>
        <p:spPr>
          <a:xfrm>
            <a:off x="457200" y="1005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D6620250-24D5-2711-02D4-602673D2DF94}"/>
              </a:ext>
            </a:extLst>
          </p:cNvPr>
          <p:cNvSpPr/>
          <p:nvPr/>
        </p:nvSpPr>
        <p:spPr>
          <a:xfrm>
            <a:off x="1051560" y="10058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Hard-Coded Values</a:t>
            </a:r>
            <a:endParaRPr lang="en-US" sz="13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E314147C-C2C9-A4F6-EE6B-4911554BDE11}"/>
              </a:ext>
            </a:extLst>
          </p:cNvPr>
          <p:cNvSpPr/>
          <p:nvPr/>
        </p:nvSpPr>
        <p:spPr>
          <a:xfrm>
            <a:off x="457200" y="1444752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SNN_module.yaml is the single source of truth — architecture, training schedule, regularization, dataset, and output paths all live there.</a:t>
            </a:r>
            <a:endParaRPr lang="en-US" sz="95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560269A3-08C6-44FB-99D2-24CFF4921F6F}"/>
              </a:ext>
            </a:extLst>
          </p:cNvPr>
          <p:cNvSpPr/>
          <p:nvPr/>
        </p:nvSpPr>
        <p:spPr>
          <a:xfrm>
            <a:off x="4709160" y="914400"/>
            <a:ext cx="4160520" cy="1508760"/>
          </a:xfrm>
          <a:prstGeom prst="roundRect">
            <a:avLst>
              <a:gd name="adj" fmla="val 6061"/>
            </a:avLst>
          </a:prstGeom>
          <a:solidFill>
            <a:srgbClr val="0D2040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140FBD33-0448-453B-153E-46D4C1A3FC95}"/>
              </a:ext>
            </a:extLst>
          </p:cNvPr>
          <p:cNvSpPr/>
          <p:nvPr/>
        </p:nvSpPr>
        <p:spPr>
          <a:xfrm>
            <a:off x="4846320" y="1005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2E1F5EEE-DBEB-6C53-79DB-331BA812A2DB}"/>
              </a:ext>
            </a:extLst>
          </p:cNvPr>
          <p:cNvSpPr/>
          <p:nvPr/>
        </p:nvSpPr>
        <p:spPr>
          <a:xfrm>
            <a:off x="5440680" y="10058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Framework-Agnostic at the Model Boundary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A1E8D956-B614-E152-A1F2-256C17CEC23A}"/>
              </a:ext>
            </a:extLst>
          </p:cNvPr>
          <p:cNvSpPr/>
          <p:nvPr/>
        </p:nvSpPr>
        <p:spPr>
          <a:xfrm>
            <a:off x="4846320" y="1444752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backends (Norse, SNNTorch, SpikingJelly, Sinabs, BindsNET, Spyx) switch via one YAML key. ModelInterface contract unifies them all.</a:t>
            </a:r>
            <a:endParaRPr lang="en-US" sz="950" dirty="0"/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15373B5F-22C3-AE8C-3077-A00051B2F654}"/>
              </a:ext>
            </a:extLst>
          </p:cNvPr>
          <p:cNvSpPr/>
          <p:nvPr/>
        </p:nvSpPr>
        <p:spPr>
          <a:xfrm>
            <a:off x="320040" y="2606040"/>
            <a:ext cx="8549640" cy="1508760"/>
          </a:xfrm>
          <a:prstGeom prst="roundRect">
            <a:avLst>
              <a:gd name="adj" fmla="val 6061"/>
            </a:avLst>
          </a:prstGeom>
          <a:solidFill>
            <a:srgbClr val="0D2040"/>
          </a:solidFill>
          <a:ln w="19050">
            <a:solidFill>
              <a:srgbClr val="5EEAD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4410CC81-81A1-6E7C-62BB-DF4257F3FE61}"/>
              </a:ext>
            </a:extLst>
          </p:cNvPr>
          <p:cNvSpPr/>
          <p:nvPr/>
        </p:nvSpPr>
        <p:spPr>
          <a:xfrm>
            <a:off x="457200" y="2670417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3201B47B-3D72-2070-4751-7B6FDD7EB30B}"/>
              </a:ext>
            </a:extLst>
          </p:cNvPr>
          <p:cNvSpPr/>
          <p:nvPr/>
        </p:nvSpPr>
        <p:spPr>
          <a:xfrm>
            <a:off x="960120" y="26791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Biology-Informed Training Stack</a:t>
            </a:r>
            <a:endParaRPr lang="en-US" sz="1300" dirty="0"/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0A705D43-ECAC-FBD3-69B6-1B252AC1FB76}"/>
              </a:ext>
            </a:extLst>
          </p:cNvPr>
          <p:cNvSpPr/>
          <p:nvPr/>
        </p:nvSpPr>
        <p:spPr>
          <a:xfrm>
            <a:off x="960120" y="2953512"/>
            <a:ext cx="7726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BPTT + surrogate gradient, TRADES adversarial robustness, two-sided activity regularization, and STDP all operate as differentiable loss terms.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4903535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017486-B415-1182-621E-470F95744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1059"/>
            <a:ext cx="9144000" cy="482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8433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1D6FA9"/>
                </a:solidFill>
                <a:latin typeface="Verdana"/>
                <a:ea typeface="Verdana"/>
                <a:cs typeface="Verdana"/>
                <a:sym typeface="Verdana"/>
              </a:rPr>
              <a:t>Our Goal(s)</a:t>
            </a:r>
            <a:endParaRPr>
              <a:solidFill>
                <a:srgbClr val="1D6FA9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9" name="Google Shape;109;p19"/>
          <p:cNvSpPr txBox="1">
            <a:spLocks noGrp="1"/>
          </p:cNvSpPr>
          <p:nvPr>
            <p:ph type="body" idx="1"/>
          </p:nvPr>
        </p:nvSpPr>
        <p:spPr>
          <a:xfrm>
            <a:off x="26895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Char char="●"/>
            </a:pPr>
            <a:r>
              <a:rPr lang="en" sz="15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Simulate the bio-inspired model on existing hardware (GPUs)</a:t>
            </a:r>
            <a:endParaRPr sz="15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5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Char char="●"/>
            </a:pPr>
            <a:r>
              <a:rPr lang="en" sz="15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Compare the simulation frameworks to looking at accuracy, memory, energy  - not just speed</a:t>
            </a:r>
            <a:endParaRPr sz="15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5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Char char="●"/>
            </a:pPr>
            <a:r>
              <a:rPr lang="en" sz="15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Optimize the simulation pipeline — study effect on energy consumption , memory utilisation</a:t>
            </a:r>
            <a:endParaRPr sz="15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 sz="1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11276" y="124175"/>
            <a:ext cx="932726" cy="52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1D6FA9"/>
                </a:solidFill>
                <a:latin typeface="Verdana"/>
                <a:ea typeface="Verdana"/>
                <a:cs typeface="Verdana"/>
                <a:sym typeface="Verdana"/>
              </a:rPr>
              <a:t>Evaluation Criteria</a:t>
            </a:r>
            <a:endParaRPr>
              <a:solidFill>
                <a:srgbClr val="1D6FA9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6" name="Google Shape;116;p20"/>
          <p:cNvSpPr/>
          <p:nvPr/>
        </p:nvSpPr>
        <p:spPr>
          <a:xfrm>
            <a:off x="457200" y="1325880"/>
            <a:ext cx="2011800" cy="1417200"/>
          </a:xfrm>
          <a:prstGeom prst="roundRect">
            <a:avLst>
              <a:gd name="adj" fmla="val 6452"/>
            </a:avLst>
          </a:prstGeom>
          <a:solidFill>
            <a:srgbClr val="1B2F45"/>
          </a:solidFill>
          <a:ln w="12700" cap="flat" cmpd="sng">
            <a:solidFill>
              <a:srgbClr val="2A4A6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0"/>
          <p:cNvSpPr/>
          <p:nvPr/>
        </p:nvSpPr>
        <p:spPr>
          <a:xfrm>
            <a:off x="457200" y="1417320"/>
            <a:ext cx="20118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0"/>
          <p:cNvSpPr/>
          <p:nvPr/>
        </p:nvSpPr>
        <p:spPr>
          <a:xfrm>
            <a:off x="548640" y="1783080"/>
            <a:ext cx="1828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Memory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0"/>
          <p:cNvSpPr/>
          <p:nvPr/>
        </p:nvSpPr>
        <p:spPr>
          <a:xfrm>
            <a:off x="548640" y="2084832"/>
            <a:ext cx="1828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A5B5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8BA5B5"/>
                </a:solidFill>
                <a:latin typeface="Calibri"/>
                <a:ea typeface="Calibri"/>
                <a:cs typeface="Calibri"/>
                <a:sym typeface="Calibri"/>
              </a:rPr>
              <a:t>GPU memory used during training and inference 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0"/>
          <p:cNvSpPr/>
          <p:nvPr/>
        </p:nvSpPr>
        <p:spPr>
          <a:xfrm>
            <a:off x="2606040" y="1325880"/>
            <a:ext cx="2011800" cy="2971800"/>
          </a:xfrm>
          <a:prstGeom prst="roundRect">
            <a:avLst>
              <a:gd name="adj" fmla="val 6452"/>
            </a:avLst>
          </a:prstGeom>
          <a:solidFill>
            <a:srgbClr val="1B2F45"/>
          </a:solidFill>
          <a:ln w="12700" cap="flat" cmpd="sng">
            <a:solidFill>
              <a:srgbClr val="2A4A6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0"/>
          <p:cNvSpPr/>
          <p:nvPr/>
        </p:nvSpPr>
        <p:spPr>
          <a:xfrm>
            <a:off x="2560320" y="2139696"/>
            <a:ext cx="20118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🔋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0"/>
          <p:cNvSpPr/>
          <p:nvPr/>
        </p:nvSpPr>
        <p:spPr>
          <a:xfrm>
            <a:off x="2697480" y="2596896"/>
            <a:ext cx="1828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Energy consumption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0"/>
          <p:cNvSpPr/>
          <p:nvPr/>
        </p:nvSpPr>
        <p:spPr>
          <a:xfrm>
            <a:off x="2697480" y="2971098"/>
            <a:ext cx="1828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8BA5B5"/>
                </a:solidFill>
                <a:latin typeface="Calibri"/>
                <a:ea typeface="Calibri"/>
                <a:cs typeface="Calibri"/>
                <a:sym typeface="Calibri"/>
              </a:rPr>
              <a:t>GPU Power/energy consumed for the same task while achieving same accuracy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0"/>
          <p:cNvSpPr/>
          <p:nvPr/>
        </p:nvSpPr>
        <p:spPr>
          <a:xfrm>
            <a:off x="4754875" y="1325870"/>
            <a:ext cx="2011800" cy="2971800"/>
          </a:xfrm>
          <a:prstGeom prst="roundRect">
            <a:avLst>
              <a:gd name="adj" fmla="val 6452"/>
            </a:avLst>
          </a:prstGeom>
          <a:solidFill>
            <a:srgbClr val="1B2F45"/>
          </a:solidFill>
          <a:ln w="12700" cap="flat" cmpd="sng">
            <a:solidFill>
              <a:srgbClr val="2A4A6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0"/>
          <p:cNvSpPr/>
          <p:nvPr/>
        </p:nvSpPr>
        <p:spPr>
          <a:xfrm>
            <a:off x="4754880" y="2233870"/>
            <a:ext cx="20118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0"/>
          <p:cNvSpPr/>
          <p:nvPr/>
        </p:nvSpPr>
        <p:spPr>
          <a:xfrm>
            <a:off x="4846320" y="2599630"/>
            <a:ext cx="1828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Performance Accuracy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0"/>
          <p:cNvSpPr/>
          <p:nvPr/>
        </p:nvSpPr>
        <p:spPr>
          <a:xfrm>
            <a:off x="4846320" y="2901382"/>
            <a:ext cx="1828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A5B5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8BA5B5"/>
                </a:solidFill>
                <a:latin typeface="Calibri"/>
                <a:ea typeface="Calibri"/>
                <a:cs typeface="Calibri"/>
                <a:sym typeface="Calibri"/>
              </a:rPr>
              <a:t>How correctly the model produces results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0"/>
          <p:cNvSpPr/>
          <p:nvPr/>
        </p:nvSpPr>
        <p:spPr>
          <a:xfrm>
            <a:off x="6903720" y="1325880"/>
            <a:ext cx="2011800" cy="1417200"/>
          </a:xfrm>
          <a:prstGeom prst="roundRect">
            <a:avLst>
              <a:gd name="adj" fmla="val 6452"/>
            </a:avLst>
          </a:prstGeom>
          <a:solidFill>
            <a:srgbClr val="1B2F45"/>
          </a:solidFill>
          <a:ln w="12700" cap="flat" cmpd="sng">
            <a:solidFill>
              <a:srgbClr val="2A4A6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0"/>
          <p:cNvSpPr/>
          <p:nvPr/>
        </p:nvSpPr>
        <p:spPr>
          <a:xfrm>
            <a:off x="6903720" y="1417320"/>
            <a:ext cx="20118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⏱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0"/>
          <p:cNvSpPr/>
          <p:nvPr/>
        </p:nvSpPr>
        <p:spPr>
          <a:xfrm>
            <a:off x="6995160" y="1783080"/>
            <a:ext cx="1828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Speed 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0"/>
          <p:cNvSpPr/>
          <p:nvPr/>
        </p:nvSpPr>
        <p:spPr>
          <a:xfrm>
            <a:off x="6995160" y="2084832"/>
            <a:ext cx="1828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A5B5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8BA5B5"/>
                </a:solidFill>
                <a:latin typeface="Calibri"/>
                <a:ea typeface="Calibri"/>
                <a:cs typeface="Calibri"/>
                <a:sym typeface="Calibri"/>
              </a:rPr>
              <a:t>Time to train and to run (per epoch / inference )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0"/>
          <p:cNvSpPr/>
          <p:nvPr/>
        </p:nvSpPr>
        <p:spPr>
          <a:xfrm>
            <a:off x="457200" y="2880360"/>
            <a:ext cx="2011800" cy="1417200"/>
          </a:xfrm>
          <a:prstGeom prst="roundRect">
            <a:avLst>
              <a:gd name="adj" fmla="val 6452"/>
            </a:avLst>
          </a:prstGeom>
          <a:solidFill>
            <a:srgbClr val="1B2F45"/>
          </a:solidFill>
          <a:ln w="12700" cap="flat" cmpd="sng">
            <a:solidFill>
              <a:srgbClr val="2A4A6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0"/>
          <p:cNvSpPr/>
          <p:nvPr/>
        </p:nvSpPr>
        <p:spPr>
          <a:xfrm>
            <a:off x="457200" y="2971800"/>
            <a:ext cx="20118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📈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0"/>
          <p:cNvSpPr/>
          <p:nvPr/>
        </p:nvSpPr>
        <p:spPr>
          <a:xfrm>
            <a:off x="548640" y="3337560"/>
            <a:ext cx="1828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Optimization Effect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0"/>
          <p:cNvSpPr/>
          <p:nvPr/>
        </p:nvSpPr>
        <p:spPr>
          <a:xfrm>
            <a:off x="548640" y="3639312"/>
            <a:ext cx="1828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A5B5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8BA5B5"/>
                </a:solidFill>
                <a:latin typeface="Calibri"/>
                <a:ea typeface="Calibri"/>
                <a:cs typeface="Calibri"/>
                <a:sym typeface="Calibri"/>
              </a:rPr>
              <a:t>Change in energy &amp; memory after improving our pipeline 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0"/>
          <p:cNvSpPr/>
          <p:nvPr/>
        </p:nvSpPr>
        <p:spPr>
          <a:xfrm>
            <a:off x="6903720" y="2880360"/>
            <a:ext cx="2011800" cy="1417200"/>
          </a:xfrm>
          <a:prstGeom prst="roundRect">
            <a:avLst>
              <a:gd name="adj" fmla="val 6452"/>
            </a:avLst>
          </a:prstGeom>
          <a:solidFill>
            <a:srgbClr val="1B2F45"/>
          </a:solidFill>
          <a:ln w="12700" cap="flat" cmpd="sng">
            <a:solidFill>
              <a:srgbClr val="2A4A6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0"/>
          <p:cNvSpPr/>
          <p:nvPr/>
        </p:nvSpPr>
        <p:spPr>
          <a:xfrm>
            <a:off x="6903720" y="2971800"/>
            <a:ext cx="20118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0"/>
          <p:cNvSpPr/>
          <p:nvPr/>
        </p:nvSpPr>
        <p:spPr>
          <a:xfrm>
            <a:off x="6995160" y="3337560"/>
            <a:ext cx="1828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Comparative benchmarking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0"/>
          <p:cNvSpPr/>
          <p:nvPr/>
        </p:nvSpPr>
        <p:spPr>
          <a:xfrm>
            <a:off x="6995160" y="3639312"/>
            <a:ext cx="1828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A5B5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8BA5B5"/>
                </a:solidFill>
                <a:latin typeface="Calibri"/>
                <a:ea typeface="Calibri"/>
                <a:cs typeface="Calibri"/>
                <a:sym typeface="Calibri"/>
              </a:rPr>
              <a:t>Comparison of simulation frameworks from use case perspective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11276" y="124175"/>
            <a:ext cx="932726" cy="52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0116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Architecture Takeaways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320040" y="914400"/>
            <a:ext cx="4160520" cy="1508760"/>
          </a:xfrm>
          <a:prstGeom prst="roundRect">
            <a:avLst>
              <a:gd name="adj" fmla="val 6061"/>
            </a:avLst>
          </a:prstGeom>
          <a:solidFill>
            <a:srgbClr val="0D2040"/>
          </a:solidFill>
          <a:ln w="19050">
            <a:solidFill>
              <a:srgbClr val="5EEAD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1005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51560" y="10058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Hard-Coded Values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444752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SNN_module.yaml is the single source of truth — architecture, training schedule, regularization, dataset, and output paths all live there.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709160" y="914400"/>
            <a:ext cx="4160520" cy="1508760"/>
          </a:xfrm>
          <a:prstGeom prst="roundRect">
            <a:avLst>
              <a:gd name="adj" fmla="val 6061"/>
            </a:avLst>
          </a:prstGeom>
          <a:solidFill>
            <a:srgbClr val="0D2040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846320" y="1005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40680" y="10058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Framework-Agnostic at the Model Boundary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846320" y="1444752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backends (Norse, SNNTorch, SpikingJelly, Sinabs, BindsNET, Spyx) switch via one YAML key. ModelInterface contract unifies them all.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0040" y="2606040"/>
            <a:ext cx="4160520" cy="1508760"/>
          </a:xfrm>
          <a:prstGeom prst="roundRect">
            <a:avLst>
              <a:gd name="adj" fmla="val 6061"/>
            </a:avLst>
          </a:prstGeom>
          <a:solidFill>
            <a:srgbClr val="0D2040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7200" y="2697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51560" y="26974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Neuromorphic Data Pipeline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3136392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NeuromorphicEncoder handles temporal slicing, configurable window overlap, and auto-selects the best cache tier (VRAM / RAM / Disk).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709160" y="2606040"/>
            <a:ext cx="4160520" cy="1508760"/>
          </a:xfrm>
          <a:prstGeom prst="roundRect">
            <a:avLst>
              <a:gd name="adj" fmla="val 6061"/>
            </a:avLst>
          </a:prstGeom>
          <a:solidFill>
            <a:srgbClr val="0D2040"/>
          </a:solidFill>
          <a:ln w="19050">
            <a:solidFill>
              <a:srgbClr val="5EEAD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846320" y="2697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440680" y="26974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Biology-Informed Training Stack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846320" y="3136392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BPTT + surrogate gradient, TRADES adversarial robustness, two-sided activity regularization, and STDP all operate as differentiable loss terms.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65760" y="450799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0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event_data_workflow — Neuromorphic Data Pipeline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raw event-camera streams into batched tensors ready for SNN training — fully config-driven.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07008"/>
            <a:ext cx="4160520" cy="1572768"/>
          </a:xfrm>
          <a:prstGeom prst="roundRect">
            <a:avLst>
              <a:gd name="adj" fmla="val 5814"/>
            </a:avLst>
          </a:prstGeom>
          <a:solidFill>
            <a:srgbClr val="1A3052"/>
          </a:solidFill>
          <a:ln w="2286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335024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335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7824" y="133502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DVS / DAVIS Camera Input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828800"/>
            <a:ext cx="38404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Event-based sensor stream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Polarity · timestamp · (x, y) position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 Vation / Prophesee / Tonic-supported formats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1207008"/>
            <a:ext cx="4160520" cy="1572768"/>
          </a:xfrm>
          <a:prstGeom prst="roundRect">
            <a:avLst>
              <a:gd name="adj" fmla="val 5814"/>
            </a:avLst>
          </a:prstGeom>
          <a:solidFill>
            <a:srgbClr val="142840"/>
          </a:solidFill>
          <a:ln w="22860">
            <a:solidFill>
              <a:srgbClr val="14B8A6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335024"/>
            <a:ext cx="384048" cy="38404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335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21224" y="133502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NeuromorphicEncoder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82312" y="1828800"/>
            <a:ext cx="38404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slicing into fixed windows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temporal_slice_duration (default 15 ms)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∈ [0, duration) configured in YAML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907792"/>
            <a:ext cx="4160520" cy="1572768"/>
          </a:xfrm>
          <a:prstGeom prst="roundRect">
            <a:avLst>
              <a:gd name="adj" fmla="val 5814"/>
            </a:avLst>
          </a:prstGeom>
          <a:solidFill>
            <a:srgbClr val="1A3052"/>
          </a:solidFill>
          <a:ln w="22860">
            <a:solidFill>
              <a:srgbClr val="5EEAD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" y="3035808"/>
            <a:ext cx="384048" cy="384048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77824" y="303580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Cache Strategy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" y="3529584"/>
            <a:ext cx="38404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Auto-selects tier at runtime: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VRAM cache → RAM cache → Disk cache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detected free system resources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2907792"/>
            <a:ext cx="4160520" cy="1572768"/>
          </a:xfrm>
          <a:prstGeom prst="roundRect">
            <a:avLst>
              <a:gd name="adj" fmla="val 5814"/>
            </a:avLst>
          </a:prstGeom>
          <a:solidFill>
            <a:srgbClr val="142840"/>
          </a:solidFill>
          <a:ln w="2286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3035808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21224" y="303580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DataLoader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82312" y="3529584"/>
            <a:ext cx="38404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cfg.NUM_WORKERS prefetch workers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batch delivery · neuromorphic MNIST default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data_path in SNN_module.yaml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34840" y="1993392"/>
            <a:ext cx="1828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434840" y="3694176"/>
            <a:ext cx="182880" cy="0"/>
          </a:xfrm>
          <a:prstGeom prst="line">
            <a:avLst/>
          </a:prstGeom>
          <a:noFill/>
          <a:ln w="254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693408" y="2779776"/>
            <a:ext cx="0" cy="128016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482803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batched event tensors [T, B, C, H, W] delivered to SNNTrainer at each iteration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1698</Words>
  <Application>Microsoft Office PowerPoint</Application>
  <PresentationFormat>On-screen Show (16:9)</PresentationFormat>
  <Paragraphs>199</Paragraphs>
  <Slides>23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-apple-system</vt:lpstr>
      <vt:lpstr>Arial</vt:lpstr>
      <vt:lpstr>Calibri</vt:lpstr>
      <vt:lpstr>Cambria</vt:lpstr>
      <vt:lpstr>Courier New</vt:lpstr>
      <vt:lpstr>Times New Roman</vt:lpstr>
      <vt:lpstr>Verdana</vt:lpstr>
      <vt:lpstr>Simple Light</vt:lpstr>
      <vt:lpstr>PowerPoint Presentation</vt:lpstr>
      <vt:lpstr>Agenda</vt:lpstr>
      <vt:lpstr>The Problem Statement</vt:lpstr>
      <vt:lpstr>So how big is this energy problem ?</vt:lpstr>
      <vt:lpstr>Others’ existing work so far:</vt:lpstr>
      <vt:lpstr>Others’ existing work so far (continued)</vt:lpstr>
      <vt:lpstr>Biologically inspired neural dynamic behaviour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GeNN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Our Goal(s)</vt:lpstr>
      <vt:lpstr>Evaluation Criteria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Muhammad Zuhair</cp:lastModifiedBy>
  <cp:revision>5</cp:revision>
  <dcterms:modified xsi:type="dcterms:W3CDTF">2026-06-25T10:57:19Z</dcterms:modified>
</cp:coreProperties>
</file>